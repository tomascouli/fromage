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99" r:id="rId3"/>
    <p:sldId id="300" r:id="rId4"/>
    <p:sldId id="258" r:id="rId5"/>
    <p:sldId id="265" r:id="rId6"/>
    <p:sldId id="294" r:id="rId7"/>
    <p:sldId id="293" r:id="rId8"/>
    <p:sldId id="287" r:id="rId9"/>
    <p:sldId id="289" r:id="rId10"/>
    <p:sldId id="290" r:id="rId11"/>
    <p:sldId id="291" r:id="rId12"/>
    <p:sldId id="288" r:id="rId13"/>
    <p:sldId id="259" r:id="rId14"/>
    <p:sldId id="301" r:id="rId15"/>
    <p:sldId id="302" r:id="rId16"/>
    <p:sldId id="266" r:id="rId17"/>
    <p:sldId id="295" r:id="rId18"/>
    <p:sldId id="296" r:id="rId19"/>
    <p:sldId id="303" r:id="rId20"/>
    <p:sldId id="264" r:id="rId21"/>
    <p:sldId id="304" r:id="rId22"/>
    <p:sldId id="305" r:id="rId23"/>
  </p:sldIdLst>
  <p:sldSz cx="5143500" cy="9144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305"/>
    <a:srgbClr val="FFFFFF"/>
    <a:srgbClr val="F5E4B5"/>
    <a:srgbClr val="F5F5EE"/>
    <a:srgbClr val="FCD164"/>
    <a:srgbClr val="FEF3D6"/>
    <a:srgbClr val="FAB814"/>
    <a:srgbClr val="312823"/>
    <a:srgbClr val="3A302A"/>
    <a:srgbClr val="5243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AC8EB6-3772-B59A-9506-87397BE60762}" v="114" dt="2025-01-20T15:23:04.656"/>
    <p1510:client id="{5A333ECE-ED03-26C9-81CC-39E566681C92}" v="9" dt="2025-01-20T14:15:51.333"/>
    <p1510:client id="{B2364A08-F76D-D3D8-55E6-6D678504C43B}" v="190" dt="2025-01-20T13:53:28.174"/>
    <p1510:client id="{F7065A1D-0F18-6A22-C5F6-BF15A3EBFF22}" v="736" dt="2025-01-21T20:53:50.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2572D-6791-4648-B0FE-CDD21B4A0F17}" type="datetimeFigureOut">
              <a:rPr lang="fr-FR" smtClean="0"/>
              <a:t>21/01/2025</a:t>
            </a:fld>
            <a:endParaRPr lang="fr-FR"/>
          </a:p>
        </p:txBody>
      </p:sp>
      <p:sp>
        <p:nvSpPr>
          <p:cNvPr id="4" name="Espace réservé de l'image des diapositives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610CA-377A-4C2E-8612-954492694798}" type="slidenum">
              <a:rPr lang="fr-FR" smtClean="0"/>
              <a:t>‹N°›</a:t>
            </a:fld>
            <a:endParaRPr lang="fr-FR"/>
          </a:p>
        </p:txBody>
      </p:sp>
    </p:spTree>
    <p:extLst>
      <p:ext uri="{BB962C8B-B14F-4D97-AF65-F5344CB8AC3E}">
        <p14:creationId xmlns:p14="http://schemas.microsoft.com/office/powerpoint/2010/main" val="170582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496484"/>
            <a:ext cx="4371975" cy="3183467"/>
          </a:xfrm>
        </p:spPr>
        <p:txBody>
          <a:bodyPr anchor="b"/>
          <a:lstStyle>
            <a:lvl1pPr algn="ctr">
              <a:defRPr sz="3375"/>
            </a:lvl1pPr>
          </a:lstStyle>
          <a:p>
            <a:r>
              <a:rPr lang="fr-FR"/>
              <a:t>Modifiez le style du titre</a:t>
            </a:r>
            <a:endParaRPr lang="en-US"/>
          </a:p>
        </p:txBody>
      </p:sp>
      <p:sp>
        <p:nvSpPr>
          <p:cNvPr id="3" name="Subtitle 2"/>
          <p:cNvSpPr>
            <a:spLocks noGrp="1"/>
          </p:cNvSpPr>
          <p:nvPr>
            <p:ph type="subTitle" idx="1"/>
          </p:nvPr>
        </p:nvSpPr>
        <p:spPr>
          <a:xfrm>
            <a:off x="642938" y="4802717"/>
            <a:ext cx="3857625" cy="2207683"/>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EC13D87E-4D2B-44CC-9218-1504918D0D20}" type="datetimeFigureOut">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38409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C13D87E-4D2B-44CC-9218-1504918D0D20}" type="datetimeFigureOut">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194077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350937" y="2279653"/>
            <a:ext cx="4436269" cy="3803649"/>
          </a:xfrm>
        </p:spPr>
        <p:txBody>
          <a:bodyPr anchor="b"/>
          <a:lstStyle>
            <a:lvl1pPr>
              <a:defRPr sz="3375"/>
            </a:lvl1pPr>
          </a:lstStyle>
          <a:p>
            <a:r>
              <a:rPr lang="fr-FR"/>
              <a:t>Modifiez le style du titre</a:t>
            </a:r>
            <a:endParaRPr lang="en-US"/>
          </a:p>
        </p:txBody>
      </p:sp>
      <p:sp>
        <p:nvSpPr>
          <p:cNvPr id="3" name="Text Placeholder 2"/>
          <p:cNvSpPr>
            <a:spLocks noGrp="1"/>
          </p:cNvSpPr>
          <p:nvPr>
            <p:ph type="body" idx="1"/>
          </p:nvPr>
        </p:nvSpPr>
        <p:spPr>
          <a:xfrm>
            <a:off x="350937" y="6119286"/>
            <a:ext cx="4436269" cy="2000249"/>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13D87E-4D2B-44CC-9218-1504918D0D20}" type="datetimeFigureOut">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66367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353615" y="2434167"/>
            <a:ext cx="2185988"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2603897" y="2434167"/>
            <a:ext cx="2185988"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EC13D87E-4D2B-44CC-9218-1504918D0D20}" type="datetimeFigureOut">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683432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354285" y="486836"/>
            <a:ext cx="4436269" cy="1767417"/>
          </a:xfrm>
        </p:spPr>
        <p:txBody>
          <a:bodyPr/>
          <a:lstStyle/>
          <a:p>
            <a:r>
              <a:rPr lang="fr-FR"/>
              <a:t>Modifiez le style du titre</a:t>
            </a:r>
            <a:endParaRPr lang="en-US"/>
          </a:p>
        </p:txBody>
      </p:sp>
      <p:sp>
        <p:nvSpPr>
          <p:cNvPr id="3" name="Text Placeholder 2"/>
          <p:cNvSpPr>
            <a:spLocks noGrp="1"/>
          </p:cNvSpPr>
          <p:nvPr>
            <p:ph type="body" idx="1"/>
          </p:nvPr>
        </p:nvSpPr>
        <p:spPr>
          <a:xfrm>
            <a:off x="354286" y="2241551"/>
            <a:ext cx="2175941"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Content Placeholder 3"/>
          <p:cNvSpPr>
            <a:spLocks noGrp="1"/>
          </p:cNvSpPr>
          <p:nvPr>
            <p:ph sz="half" idx="2"/>
          </p:nvPr>
        </p:nvSpPr>
        <p:spPr>
          <a:xfrm>
            <a:off x="354286" y="3340100"/>
            <a:ext cx="2175941"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2603897" y="2241551"/>
            <a:ext cx="2186657"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Content Placeholder 5"/>
          <p:cNvSpPr>
            <a:spLocks noGrp="1"/>
          </p:cNvSpPr>
          <p:nvPr>
            <p:ph sz="quarter" idx="4"/>
          </p:nvPr>
        </p:nvSpPr>
        <p:spPr>
          <a:xfrm>
            <a:off x="2603897" y="3340100"/>
            <a:ext cx="2186657"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EC13D87E-4D2B-44CC-9218-1504918D0D20}" type="datetimeFigureOut">
              <a:rPr lang="fr-FR" smtClean="0"/>
              <a:t>21/01/2025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58264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EC13D87E-4D2B-44CC-9218-1504918D0D20}" type="datetimeFigureOut">
              <a:rPr lang="fr-FR" smtClean="0"/>
              <a:t>21/01/2025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3132834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13D87E-4D2B-44CC-9218-1504918D0D20}" type="datetimeFigureOut">
              <a:rPr lang="fr-FR" smtClean="0"/>
              <a:t>21/01/2025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49681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fr-FR"/>
              <a:t>Modifiez le style du titre</a:t>
            </a:r>
            <a:endParaRPr lang="en-US"/>
          </a:p>
        </p:txBody>
      </p:sp>
      <p:sp>
        <p:nvSpPr>
          <p:cNvPr id="3" name="Content Placeholder 2"/>
          <p:cNvSpPr>
            <a:spLocks noGrp="1"/>
          </p:cNvSpPr>
          <p:nvPr>
            <p:ph idx="1"/>
          </p:nvPr>
        </p:nvSpPr>
        <p:spPr>
          <a:xfrm>
            <a:off x="2186657" y="1316569"/>
            <a:ext cx="2603897" cy="6498167"/>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13D87E-4D2B-44CC-9218-1504918D0D20}" type="datetimeFigureOut">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04945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fr-FR"/>
              <a:t>Modifiez le style du titre</a:t>
            </a:r>
            <a:endParaRPr lang="en-US"/>
          </a:p>
        </p:txBody>
      </p:sp>
      <p:sp>
        <p:nvSpPr>
          <p:cNvPr id="3" name="Picture Placeholder 2"/>
          <p:cNvSpPr>
            <a:spLocks noGrp="1" noChangeAspect="1"/>
          </p:cNvSpPr>
          <p:nvPr>
            <p:ph type="pic" idx="1"/>
          </p:nvPr>
        </p:nvSpPr>
        <p:spPr>
          <a:xfrm>
            <a:off x="2186657" y="1316569"/>
            <a:ext cx="2603897" cy="6498167"/>
          </a:xfrm>
        </p:spPr>
        <p:txBody>
          <a:bodyPr anchor="t"/>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fr-FR"/>
              <a:t>Cliquez sur l'icône pour ajouter une image</a:t>
            </a:r>
            <a:endParaRPr lang="en-US"/>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13D87E-4D2B-44CC-9218-1504918D0D20}" type="datetimeFigureOut">
              <a:rPr lang="fr-FR" smtClean="0"/>
              <a:t>21/01/2025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96303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C13D87E-4D2B-44CC-9218-1504918D0D20}" type="datetimeFigureOut">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37430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80818" y="486834"/>
            <a:ext cx="1109067" cy="7749117"/>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353616" y="486834"/>
            <a:ext cx="3262908" cy="7749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C13D87E-4D2B-44CC-9218-1504918D0D20}" type="datetimeFigureOut">
              <a:rPr lang="fr-FR" smtClean="0"/>
              <a:t>21/01/2025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193772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0000">
              <a:srgbClr val="277A47"/>
            </a:gs>
            <a:gs pos="100000">
              <a:srgbClr val="C6DAD1"/>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3616" y="486836"/>
            <a:ext cx="4436269" cy="1767417"/>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353616" y="2434167"/>
            <a:ext cx="4436269" cy="580178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353615" y="8475136"/>
            <a:ext cx="1157288" cy="486833"/>
          </a:xfrm>
          <a:prstGeom prst="rect">
            <a:avLst/>
          </a:prstGeom>
        </p:spPr>
        <p:txBody>
          <a:bodyPr vert="horz" lIns="91440" tIns="45720" rIns="91440" bIns="45720" rtlCol="0" anchor="ctr"/>
          <a:lstStyle>
            <a:lvl1pPr algn="l">
              <a:defRPr sz="675">
                <a:solidFill>
                  <a:schemeClr val="tx1">
                    <a:tint val="82000"/>
                  </a:schemeClr>
                </a:solidFill>
              </a:defRPr>
            </a:lvl1pPr>
          </a:lstStyle>
          <a:p>
            <a:fld id="{EC13D87E-4D2B-44CC-9218-1504918D0D20}" type="datetimeFigureOut">
              <a:rPr lang="fr-FR" smtClean="0"/>
              <a:t>21/01/2025</a:t>
            </a:fld>
            <a:endParaRPr lang="fr-FR"/>
          </a:p>
        </p:txBody>
      </p:sp>
      <p:sp>
        <p:nvSpPr>
          <p:cNvPr id="5" name="Footer Placeholder 4"/>
          <p:cNvSpPr>
            <a:spLocks noGrp="1"/>
          </p:cNvSpPr>
          <p:nvPr>
            <p:ph type="ftr" sz="quarter" idx="3"/>
          </p:nvPr>
        </p:nvSpPr>
        <p:spPr>
          <a:xfrm>
            <a:off x="1703785" y="8475136"/>
            <a:ext cx="1735931" cy="486833"/>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3632597" y="8475136"/>
            <a:ext cx="1157288" cy="486833"/>
          </a:xfrm>
          <a:prstGeom prst="rect">
            <a:avLst/>
          </a:prstGeom>
        </p:spPr>
        <p:txBody>
          <a:bodyPr vert="horz" lIns="91440" tIns="45720" rIns="91440" bIns="45720" rtlCol="0" anchor="ctr"/>
          <a:lstStyle>
            <a:lvl1pPr algn="r">
              <a:defRPr sz="675">
                <a:solidFill>
                  <a:schemeClr val="tx1">
                    <a:tint val="82000"/>
                  </a:schemeClr>
                </a:solidFill>
              </a:defRPr>
            </a:lvl1pPr>
          </a:lstStyle>
          <a:p>
            <a:fld id="{17999C86-5176-4F05-BA99-E43B63F61110}" type="slidenum">
              <a:rPr lang="fr-FR" smtClean="0"/>
              <a:t>‹N°›</a:t>
            </a:fld>
            <a:endParaRPr lang="fr-FR"/>
          </a:p>
        </p:txBody>
      </p:sp>
    </p:spTree>
    <p:extLst>
      <p:ext uri="{BB962C8B-B14F-4D97-AF65-F5344CB8AC3E}">
        <p14:creationId xmlns:p14="http://schemas.microsoft.com/office/powerpoint/2010/main" val="2570282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87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47765B23-CDCD-8996-7EAF-69199DED9A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93B9EB-E8FA-C933-CD72-84DA4839D24B}"/>
              </a:ext>
            </a:extLst>
          </p:cNvPr>
          <p:cNvSpPr/>
          <p:nvPr/>
        </p:nvSpPr>
        <p:spPr>
          <a:xfrm>
            <a:off x="164374" y="1547948"/>
            <a:ext cx="4814751" cy="604810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fr-FR" sz="2000" b="1">
                <a:effectLst/>
                <a:latin typeface="Times New Roman" panose="02020603050405020304" pitchFamily="18" charset="0"/>
                <a:ea typeface="Calibri" panose="020F0502020204030204" pitchFamily="34" charset="0"/>
                <a:cs typeface="Times New Roman" panose="02020603050405020304" pitchFamily="18" charset="0"/>
              </a:rPr>
              <a:t>Bienvenue sur Coagulum</a:t>
            </a:r>
          </a:p>
          <a:p>
            <a:pPr algn="ctr">
              <a:lnSpc>
                <a:spcPct val="107000"/>
              </a:lnSpc>
              <a:spcAft>
                <a:spcPts val="800"/>
              </a:spcAft>
            </a:pPr>
            <a:r>
              <a:rPr lang="fr-FR" sz="1800">
                <a:effectLst/>
                <a:latin typeface="Times New Roman" panose="02020603050405020304" pitchFamily="18" charset="0"/>
                <a:ea typeface="Calibri" panose="020F0502020204030204" pitchFamily="34" charset="0"/>
                <a:cs typeface="Times New Roman" panose="02020603050405020304" pitchFamily="18" charset="0"/>
              </a:rPr>
              <a:t>Coagulum est </a:t>
            </a:r>
            <a:r>
              <a:rPr lang="fr-FR" sz="1800">
                <a:effectLst/>
                <a:latin typeface="Times New Roman" panose="02020603050405020304" pitchFamily="18" charset="0"/>
                <a:ea typeface="Times New Roman" panose="02020603050405020304" pitchFamily="18" charset="0"/>
                <a:cs typeface="Times New Roman" panose="02020603050405020304" pitchFamily="18" charset="0"/>
              </a:rPr>
              <a:t>une planète en pleine transformation, où le lait commence à se solidifier en caillé. Mais un déséquilibre menace la planète : le processus de coagulation est instable, et le lait ne se transforme pas correctement. </a:t>
            </a:r>
          </a:p>
          <a:p>
            <a:pPr algn="ctr">
              <a:lnSpc>
                <a:spcPct val="107000"/>
              </a:lnSpc>
              <a:spcAft>
                <a:spcPts val="800"/>
              </a:spcAft>
            </a:pPr>
            <a:endParaRPr lang="fr-FR" sz="1800">
              <a:effectLst/>
              <a:latin typeface="Calibri" panose="020F0502020204030204" pitchFamily="34" charset="0"/>
              <a:ea typeface="Calibri" panose="020F0502020204030204" pitchFamily="34" charset="0"/>
              <a:cs typeface="Times New Roman" panose="02020603050405020304" pitchFamily="18" charset="0"/>
            </a:endParaRPr>
          </a:p>
          <a:p>
            <a:pPr algn="ctr"/>
            <a:r>
              <a:rPr lang="fr-FR" sz="1800">
                <a:effectLst/>
                <a:latin typeface="Times New Roman" panose="02020603050405020304" pitchFamily="18" charset="0"/>
                <a:ea typeface="Times New Roman" panose="02020603050405020304" pitchFamily="18" charset="0"/>
              </a:rPr>
              <a:t>Vous y rencontrez Maître </a:t>
            </a:r>
            <a:r>
              <a:rPr lang="fr-FR" sz="1800" err="1">
                <a:effectLst/>
                <a:latin typeface="Times New Roman" panose="02020603050405020304" pitchFamily="18" charset="0"/>
                <a:ea typeface="Times New Roman" panose="02020603050405020304" pitchFamily="18" charset="0"/>
              </a:rPr>
              <a:t>Chymo</a:t>
            </a:r>
            <a:r>
              <a:rPr lang="fr-FR" sz="1800">
                <a:effectLst/>
                <a:latin typeface="Times New Roman" panose="02020603050405020304" pitchFamily="18" charset="0"/>
                <a:ea typeface="Times New Roman" panose="02020603050405020304" pitchFamily="18" charset="0"/>
              </a:rPr>
              <a:t>, Gardien de la présure (numéro de la carte), qui vous sollicite pour l’aider à rétablir l’ordre dans la planète en trouvant et activant le </a:t>
            </a:r>
            <a:r>
              <a:rPr lang="fr-FR" sz="1800" b="1">
                <a:effectLst/>
                <a:latin typeface="Times New Roman" panose="02020603050405020304" pitchFamily="18" charset="0"/>
                <a:ea typeface="Times New Roman" panose="02020603050405020304" pitchFamily="18" charset="0"/>
              </a:rPr>
              <a:t>Cœur de Coagulum</a:t>
            </a:r>
            <a:r>
              <a:rPr lang="fr-FR" sz="1800">
                <a:effectLst/>
                <a:latin typeface="Times New Roman" panose="02020603050405020304" pitchFamily="18" charset="0"/>
                <a:ea typeface="Times New Roman" panose="02020603050405020304" pitchFamily="18" charset="0"/>
              </a:rPr>
              <a:t>, une relique magique qui harmonise les enzymes, les acides et les molécules du lait</a:t>
            </a:r>
            <a:endParaRPr lang="fr-FR" sz="1800">
              <a:effectLst/>
              <a:latin typeface="Aptos" panose="020B0004020202020204" pitchFamily="34" charset="0"/>
              <a:ea typeface="Aptos" panose="020B0004020202020204" pitchFamily="34" charset="0"/>
              <a:cs typeface="Arial" panose="020B0604020202020204" pitchFamily="34" charset="0"/>
            </a:endParaRPr>
          </a:p>
        </p:txBody>
      </p:sp>
      <p:sp>
        <p:nvSpPr>
          <p:cNvPr id="5" name="Ellipse 4">
            <a:extLst>
              <a:ext uri="{FF2B5EF4-FFF2-40B4-BE49-F238E27FC236}">
                <a16:creationId xmlns:a16="http://schemas.microsoft.com/office/drawing/2014/main" id="{E9364D55-63AF-25DD-B16C-FF8D52456267}"/>
              </a:ext>
            </a:extLst>
          </p:cNvPr>
          <p:cNvSpPr/>
          <p:nvPr/>
        </p:nvSpPr>
        <p:spPr>
          <a:xfrm>
            <a:off x="475882" y="8169316"/>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1</a:t>
            </a:r>
          </a:p>
        </p:txBody>
      </p:sp>
    </p:spTree>
    <p:extLst>
      <p:ext uri="{BB962C8B-B14F-4D97-AF65-F5344CB8AC3E}">
        <p14:creationId xmlns:p14="http://schemas.microsoft.com/office/powerpoint/2010/main" val="1640281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0413AD14-2CE2-7277-3E24-9D77F9224A10}"/>
            </a:ext>
          </a:extLst>
        </p:cNvPr>
        <p:cNvGrpSpPr/>
        <p:nvPr/>
      </p:nvGrpSpPr>
      <p:grpSpPr>
        <a:xfrm>
          <a:off x="0" y="0"/>
          <a:ext cx="0" cy="0"/>
          <a:chOff x="0" y="0"/>
          <a:chExt cx="0" cy="0"/>
        </a:xfrm>
      </p:grpSpPr>
      <p:sp>
        <p:nvSpPr>
          <p:cNvPr id="5" name="Ellipse 4">
            <a:extLst>
              <a:ext uri="{FF2B5EF4-FFF2-40B4-BE49-F238E27FC236}">
                <a16:creationId xmlns:a16="http://schemas.microsoft.com/office/drawing/2014/main" id="{04E3CA93-190E-21FE-1B56-F55D05CB5AFF}"/>
              </a:ext>
            </a:extLst>
          </p:cNvPr>
          <p:cNvSpPr/>
          <p:nvPr/>
        </p:nvSpPr>
        <p:spPr>
          <a:xfrm>
            <a:off x="221882" y="247691"/>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1</a:t>
            </a:r>
          </a:p>
        </p:txBody>
      </p:sp>
    </p:spTree>
    <p:extLst>
      <p:ext uri="{BB962C8B-B14F-4D97-AF65-F5344CB8AC3E}">
        <p14:creationId xmlns:p14="http://schemas.microsoft.com/office/powerpoint/2010/main" val="256897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3114657-3379-497F-8CCC-8F46CD3666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143500" cy="9144000"/>
          </a:xfrm>
          <a:prstGeom prst="rect">
            <a:avLst/>
          </a:prstGeom>
        </p:spPr>
      </p:pic>
      <p:sp>
        <p:nvSpPr>
          <p:cNvPr id="17" name="Rectangle 16">
            <a:extLst>
              <a:ext uri="{FF2B5EF4-FFF2-40B4-BE49-F238E27FC236}">
                <a16:creationId xmlns:a16="http://schemas.microsoft.com/office/drawing/2014/main" id="{7969C4D0-EF9F-49C6-8D2D-79DC3801BA59}"/>
              </a:ext>
            </a:extLst>
          </p:cNvPr>
          <p:cNvSpPr/>
          <p:nvPr/>
        </p:nvSpPr>
        <p:spPr>
          <a:xfrm>
            <a:off x="164374" y="6452771"/>
            <a:ext cx="4814751" cy="1757598"/>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a:effectLst/>
                <a:latin typeface="Times New Roman" panose="02020603050405020304" pitchFamily="18" charset="0"/>
                <a:ea typeface="Calibri" panose="020F0502020204030204" pitchFamily="34" charset="0"/>
              </a:rPr>
              <a:t>« …Nous avons un objectif commun. La relique que vous convoitez sert à régler les paramètres de stabilité de Coagulum. Trouvez-la, trouvez les bons paramètres pour ramener la paix a Coagulum, vous pourrez garder la relique. »</a:t>
            </a:r>
            <a:endParaRPr lang="fr-FR" sz="1800">
              <a:effectLst/>
              <a:latin typeface="Aptos" panose="020B0004020202020204" pitchFamily="34" charset="0"/>
              <a:ea typeface="Aptos" panose="020B00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DED1385-62E5-4B2C-B223-D713F7607E21}"/>
              </a:ext>
            </a:extLst>
          </p:cNvPr>
          <p:cNvSpPr/>
          <p:nvPr/>
        </p:nvSpPr>
        <p:spPr>
          <a:xfrm>
            <a:off x="616588" y="299306"/>
            <a:ext cx="3910321" cy="538399"/>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a:effectLst/>
                <a:latin typeface="Times New Roman" panose="02020603050405020304" pitchFamily="18" charset="0"/>
                <a:ea typeface="Times New Roman" panose="02020603050405020304" pitchFamily="18" charset="0"/>
              </a:rPr>
              <a:t>Maître </a:t>
            </a:r>
            <a:r>
              <a:rPr lang="fr-FR" sz="1800" err="1">
                <a:effectLst/>
                <a:latin typeface="Times New Roman" panose="02020603050405020304" pitchFamily="18" charset="0"/>
                <a:ea typeface="Times New Roman" panose="02020603050405020304" pitchFamily="18" charset="0"/>
              </a:rPr>
              <a:t>Chymo</a:t>
            </a:r>
            <a:r>
              <a:rPr lang="fr-FR" sz="1800">
                <a:effectLst/>
                <a:latin typeface="Times New Roman" panose="02020603050405020304" pitchFamily="18" charset="0"/>
                <a:ea typeface="Times New Roman" panose="02020603050405020304" pitchFamily="18" charset="0"/>
              </a:rPr>
              <a:t>, Gardien de la présure </a:t>
            </a:r>
            <a:endParaRPr lang="fr-FR" sz="1800">
              <a:effectLst/>
              <a:latin typeface="Aptos" panose="020B0004020202020204" pitchFamily="34" charset="0"/>
              <a:ea typeface="Aptos" panose="020B0004020202020204" pitchFamily="34" charset="0"/>
              <a:cs typeface="Arial" panose="020B0604020202020204" pitchFamily="34" charset="0"/>
            </a:endParaRPr>
          </a:p>
        </p:txBody>
      </p:sp>
      <p:sp>
        <p:nvSpPr>
          <p:cNvPr id="3" name="Ellipse 2">
            <a:extLst>
              <a:ext uri="{FF2B5EF4-FFF2-40B4-BE49-F238E27FC236}">
                <a16:creationId xmlns:a16="http://schemas.microsoft.com/office/drawing/2014/main" id="{C0EDA30F-C107-E89D-DEAA-223C86BD4F45}"/>
              </a:ext>
            </a:extLst>
          </p:cNvPr>
          <p:cNvSpPr/>
          <p:nvPr/>
        </p:nvSpPr>
        <p:spPr>
          <a:xfrm>
            <a:off x="348882" y="843919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2</a:t>
            </a:r>
          </a:p>
        </p:txBody>
      </p:sp>
      <p:sp>
        <p:nvSpPr>
          <p:cNvPr id="5" name="Ellipse 4">
            <a:extLst>
              <a:ext uri="{FF2B5EF4-FFF2-40B4-BE49-F238E27FC236}">
                <a16:creationId xmlns:a16="http://schemas.microsoft.com/office/drawing/2014/main" id="{EAC910CA-BE12-983B-3080-A0D109CF1F57}"/>
              </a:ext>
            </a:extLst>
          </p:cNvPr>
          <p:cNvSpPr/>
          <p:nvPr/>
        </p:nvSpPr>
        <p:spPr>
          <a:xfrm>
            <a:off x="1279157" y="843284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3</a:t>
            </a:r>
          </a:p>
        </p:txBody>
      </p:sp>
    </p:spTree>
    <p:extLst>
      <p:ext uri="{BB962C8B-B14F-4D97-AF65-F5344CB8AC3E}">
        <p14:creationId xmlns:p14="http://schemas.microsoft.com/office/powerpoint/2010/main" val="245594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EAEAF509-6789-6317-5F6E-B32F09566526}"/>
            </a:ext>
          </a:extLst>
        </p:cNvPr>
        <p:cNvGrpSpPr/>
        <p:nvPr/>
      </p:nvGrpSpPr>
      <p:grpSpPr>
        <a:xfrm>
          <a:off x="0" y="0"/>
          <a:ext cx="0" cy="0"/>
          <a:chOff x="0" y="0"/>
          <a:chExt cx="0" cy="0"/>
        </a:xfrm>
      </p:grpSpPr>
      <p:sp>
        <p:nvSpPr>
          <p:cNvPr id="4" name="Ellipse 3">
            <a:extLst>
              <a:ext uri="{FF2B5EF4-FFF2-40B4-BE49-F238E27FC236}">
                <a16:creationId xmlns:a16="http://schemas.microsoft.com/office/drawing/2014/main" id="{FAD7AE2A-BB25-BD52-4B9E-60424E12D5A7}"/>
              </a:ext>
            </a:extLst>
          </p:cNvPr>
          <p:cNvSpPr/>
          <p:nvPr/>
        </p:nvSpPr>
        <p:spPr>
          <a:xfrm>
            <a:off x="221882" y="247691"/>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2</a:t>
            </a:r>
          </a:p>
        </p:txBody>
      </p:sp>
    </p:spTree>
    <p:extLst>
      <p:ext uri="{BB962C8B-B14F-4D97-AF65-F5344CB8AC3E}">
        <p14:creationId xmlns:p14="http://schemas.microsoft.com/office/powerpoint/2010/main" val="262433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Une image contenant Bouteille en verre, texte, boisson, Whisky&#10;&#10;Le contenu généré par l’IA peut être incorrect.">
            <a:extLst>
              <a:ext uri="{FF2B5EF4-FFF2-40B4-BE49-F238E27FC236}">
                <a16:creationId xmlns:a16="http://schemas.microsoft.com/office/drawing/2014/main" id="{104751AF-EE2D-F8E1-897A-3731BE8ACA7E}"/>
              </a:ext>
            </a:extLst>
          </p:cNvPr>
          <p:cNvPicPr>
            <a:picLocks noChangeAspect="1"/>
          </p:cNvPicPr>
          <p:nvPr/>
        </p:nvPicPr>
        <p:blipFill>
          <a:blip r:embed="rId2"/>
          <a:stretch>
            <a:fillRect/>
          </a:stretch>
        </p:blipFill>
        <p:spPr>
          <a:xfrm>
            <a:off x="-7519" y="-10235"/>
            <a:ext cx="5158537" cy="9132720"/>
          </a:xfrm>
          <a:prstGeom prst="rect">
            <a:avLst/>
          </a:prstGeom>
        </p:spPr>
      </p:pic>
      <p:sp>
        <p:nvSpPr>
          <p:cNvPr id="9" name="Rectangle 8">
            <a:extLst>
              <a:ext uri="{FF2B5EF4-FFF2-40B4-BE49-F238E27FC236}">
                <a16:creationId xmlns:a16="http://schemas.microsoft.com/office/drawing/2014/main" id="{1B560D74-C8DF-43B2-A5FF-47FEC7DF8479}"/>
              </a:ext>
            </a:extLst>
          </p:cNvPr>
          <p:cNvSpPr/>
          <p:nvPr/>
        </p:nvSpPr>
        <p:spPr>
          <a:xfrm>
            <a:off x="1861370" y="420410"/>
            <a:ext cx="1420759" cy="538399"/>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a:effectLst/>
                <a:latin typeface="Times New Roman" panose="02020603050405020304" pitchFamily="18" charset="0"/>
                <a:ea typeface="Times New Roman" panose="02020603050405020304" pitchFamily="18" charset="0"/>
              </a:rPr>
              <a:t>La présure </a:t>
            </a:r>
            <a:endParaRPr lang="fr-FR" sz="1800">
              <a:effectLst/>
              <a:latin typeface="Aptos" panose="020B0004020202020204" pitchFamily="34" charset="0"/>
              <a:ea typeface="Aptos" panose="020B00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A84B4B6E-A007-4CFB-A5E4-79AE64CCB886}"/>
              </a:ext>
            </a:extLst>
          </p:cNvPr>
          <p:cNvSpPr/>
          <p:nvPr/>
        </p:nvSpPr>
        <p:spPr>
          <a:xfrm>
            <a:off x="282714" y="7340466"/>
            <a:ext cx="4578072" cy="1092360"/>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fr-FR" sz="1800">
                <a:effectLst/>
                <a:latin typeface="Times New Roman" panose="02020603050405020304" pitchFamily="18" charset="0"/>
                <a:ea typeface="Calibri" panose="020F0502020204030204" pitchFamily="34" charset="0"/>
                <a:cs typeface="Times New Roman" panose="02020603050405020304" pitchFamily="18" charset="0"/>
              </a:rPr>
              <a:t>Indice donnée par maître </a:t>
            </a:r>
            <a:r>
              <a:rPr lang="fr-FR" sz="1800" err="1">
                <a:effectLst/>
                <a:latin typeface="Times New Roman" panose="02020603050405020304" pitchFamily="18" charset="0"/>
                <a:ea typeface="Calibri" panose="020F0502020204030204" pitchFamily="34" charset="0"/>
                <a:cs typeface="Times New Roman" panose="02020603050405020304" pitchFamily="18" charset="0"/>
              </a:rPr>
              <a:t>Chymo</a:t>
            </a:r>
            <a:r>
              <a:rPr lang="fr-FR" sz="1800">
                <a:effectLst/>
                <a:latin typeface="Times New Roman" panose="02020603050405020304" pitchFamily="18" charset="0"/>
                <a:ea typeface="Calibri" panose="020F0502020204030204" pitchFamily="34" charset="0"/>
                <a:cs typeface="Times New Roman" panose="02020603050405020304" pitchFamily="18" charset="0"/>
              </a:rPr>
              <a:t> </a:t>
            </a:r>
            <a:endParaRPr lang="fr-FR" sz="18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fr-FR" sz="1800">
                <a:effectLst/>
                <a:latin typeface="Times New Roman" panose="02020603050405020304" pitchFamily="18" charset="0"/>
                <a:ea typeface="Calibri" panose="020F0502020204030204" pitchFamily="34" charset="0"/>
                <a:cs typeface="Times New Roman" panose="02020603050405020304" pitchFamily="18" charset="0"/>
              </a:rPr>
              <a:t>Coagulant de lait, d’origine animal.</a:t>
            </a:r>
            <a:endParaRPr lang="fr-FR"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Ellipse 5">
            <a:extLst>
              <a:ext uri="{FF2B5EF4-FFF2-40B4-BE49-F238E27FC236}">
                <a16:creationId xmlns:a16="http://schemas.microsoft.com/office/drawing/2014/main" id="{9633D190-4F5C-0EBB-256E-BF52A60E4A30}"/>
              </a:ext>
            </a:extLst>
          </p:cNvPr>
          <p:cNvSpPr/>
          <p:nvPr/>
        </p:nvSpPr>
        <p:spPr>
          <a:xfrm>
            <a:off x="285382" y="168316"/>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1</a:t>
            </a:r>
          </a:p>
        </p:txBody>
      </p:sp>
      <p:cxnSp>
        <p:nvCxnSpPr>
          <p:cNvPr id="7" name="Connecteur droit avec flèche 6">
            <a:extLst>
              <a:ext uri="{FF2B5EF4-FFF2-40B4-BE49-F238E27FC236}">
                <a16:creationId xmlns:a16="http://schemas.microsoft.com/office/drawing/2014/main" id="{5B7D9882-2AC1-AEA7-9244-1E76002CB5AA}"/>
              </a:ext>
            </a:extLst>
          </p:cNvPr>
          <p:cNvCxnSpPr/>
          <p:nvPr/>
        </p:nvCxnSpPr>
        <p:spPr>
          <a:xfrm>
            <a:off x="345173" y="222188"/>
            <a:ext cx="427951" cy="416152"/>
          </a:xfrm>
          <a:prstGeom prst="straightConnector1">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3151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3BD23AD4-8AAD-A2DD-20F1-AC9F27A36B83}"/>
            </a:ext>
          </a:extLst>
        </p:cNvPr>
        <p:cNvGrpSpPr/>
        <p:nvPr/>
      </p:nvGrpSpPr>
      <p:grpSpPr>
        <a:xfrm>
          <a:off x="0" y="0"/>
          <a:ext cx="0" cy="0"/>
          <a:chOff x="0" y="0"/>
          <a:chExt cx="0" cy="0"/>
        </a:xfrm>
      </p:grpSpPr>
      <p:sp>
        <p:nvSpPr>
          <p:cNvPr id="4" name="Ellipse 3">
            <a:extLst>
              <a:ext uri="{FF2B5EF4-FFF2-40B4-BE49-F238E27FC236}">
                <a16:creationId xmlns:a16="http://schemas.microsoft.com/office/drawing/2014/main" id="{4D8708E0-FE0C-69B1-14E2-C800AB8C0E10}"/>
              </a:ext>
            </a:extLst>
          </p:cNvPr>
          <p:cNvSpPr/>
          <p:nvPr/>
        </p:nvSpPr>
        <p:spPr>
          <a:xfrm>
            <a:off x="221882" y="247691"/>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3</a:t>
            </a:r>
          </a:p>
        </p:txBody>
      </p:sp>
    </p:spTree>
    <p:extLst>
      <p:ext uri="{BB962C8B-B14F-4D97-AF65-F5344CB8AC3E}">
        <p14:creationId xmlns:p14="http://schemas.microsoft.com/office/powerpoint/2010/main" val="246175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3" name="Ellipse 2">
            <a:extLst>
              <a:ext uri="{FF2B5EF4-FFF2-40B4-BE49-F238E27FC236}">
                <a16:creationId xmlns:a16="http://schemas.microsoft.com/office/drawing/2014/main" id="{4BE9A840-6F60-04EC-7D61-E23D7ED839B2}"/>
              </a:ext>
            </a:extLst>
          </p:cNvPr>
          <p:cNvSpPr/>
          <p:nvPr/>
        </p:nvSpPr>
        <p:spPr>
          <a:xfrm>
            <a:off x="3619132" y="431169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5</a:t>
            </a:r>
          </a:p>
        </p:txBody>
      </p:sp>
      <p:sp>
        <p:nvSpPr>
          <p:cNvPr id="5" name="Ellipse 4">
            <a:extLst>
              <a:ext uri="{FF2B5EF4-FFF2-40B4-BE49-F238E27FC236}">
                <a16:creationId xmlns:a16="http://schemas.microsoft.com/office/drawing/2014/main" id="{4C529597-B633-4CB9-1524-2D05320C36C3}"/>
              </a:ext>
            </a:extLst>
          </p:cNvPr>
          <p:cNvSpPr/>
          <p:nvPr/>
        </p:nvSpPr>
        <p:spPr>
          <a:xfrm>
            <a:off x="1025157" y="3654466"/>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4</a:t>
            </a:r>
          </a:p>
        </p:txBody>
      </p:sp>
    </p:spTree>
    <p:extLst>
      <p:ext uri="{BB962C8B-B14F-4D97-AF65-F5344CB8AC3E}">
        <p14:creationId xmlns:p14="http://schemas.microsoft.com/office/powerpoint/2010/main" val="2578745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18D5D42B-4F4B-1340-A4AD-D3577D0AE882}"/>
            </a:ext>
          </a:extLst>
        </p:cNvPr>
        <p:cNvGrpSpPr/>
        <p:nvPr/>
      </p:nvGrpSpPr>
      <p:grpSpPr>
        <a:xfrm>
          <a:off x="0" y="0"/>
          <a:ext cx="0" cy="0"/>
          <a:chOff x="0" y="0"/>
          <a:chExt cx="0" cy="0"/>
        </a:xfrm>
      </p:grpSpPr>
      <p:sp>
        <p:nvSpPr>
          <p:cNvPr id="4" name="Ellipse 3">
            <a:extLst>
              <a:ext uri="{FF2B5EF4-FFF2-40B4-BE49-F238E27FC236}">
                <a16:creationId xmlns:a16="http://schemas.microsoft.com/office/drawing/2014/main" id="{D98996FA-71FA-30C4-0434-D7D53F819D23}"/>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4</a:t>
            </a:r>
          </a:p>
        </p:txBody>
      </p:sp>
    </p:spTree>
    <p:extLst>
      <p:ext uri="{BB962C8B-B14F-4D97-AF65-F5344CB8AC3E}">
        <p14:creationId xmlns:p14="http://schemas.microsoft.com/office/powerpoint/2010/main" val="897018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E02BE-4E99-4FD8-D194-77646EAB7C22}"/>
            </a:ext>
          </a:extLst>
        </p:cNvPr>
        <p:cNvGrpSpPr/>
        <p:nvPr/>
      </p:nvGrpSpPr>
      <p:grpSpPr>
        <a:xfrm>
          <a:off x="0" y="0"/>
          <a:ext cx="0" cy="0"/>
          <a:chOff x="0" y="0"/>
          <a:chExt cx="0" cy="0"/>
        </a:xfrm>
      </p:grpSpPr>
      <p:pic>
        <p:nvPicPr>
          <p:cNvPr id="5" name="Image 4" descr="Une image contenant horloge, Horloge murale, intérieur, en bois&#10;&#10;Le contenu généré par l’IA peut être incorrect.">
            <a:extLst>
              <a:ext uri="{FF2B5EF4-FFF2-40B4-BE49-F238E27FC236}">
                <a16:creationId xmlns:a16="http://schemas.microsoft.com/office/drawing/2014/main" id="{9E5BE158-7E17-13EC-CE4B-F79F46590D22}"/>
              </a:ext>
            </a:extLst>
          </p:cNvPr>
          <p:cNvPicPr>
            <a:picLocks noChangeAspect="1"/>
          </p:cNvPicPr>
          <p:nvPr/>
        </p:nvPicPr>
        <p:blipFill>
          <a:blip r:embed="rId2"/>
          <a:stretch>
            <a:fillRect/>
          </a:stretch>
        </p:blipFill>
        <p:spPr>
          <a:xfrm>
            <a:off x="-7519" y="-4050"/>
            <a:ext cx="5158539" cy="9152097"/>
          </a:xfrm>
          <a:prstGeom prst="rect">
            <a:avLst/>
          </a:prstGeom>
        </p:spPr>
      </p:pic>
      <p:sp>
        <p:nvSpPr>
          <p:cNvPr id="3" name="Ellipse 2">
            <a:extLst>
              <a:ext uri="{FF2B5EF4-FFF2-40B4-BE49-F238E27FC236}">
                <a16:creationId xmlns:a16="http://schemas.microsoft.com/office/drawing/2014/main" id="{998947FA-AEBE-D0FF-E174-AF801FE8622D}"/>
              </a:ext>
            </a:extLst>
          </p:cNvPr>
          <p:cNvSpPr/>
          <p:nvPr/>
        </p:nvSpPr>
        <p:spPr>
          <a:xfrm>
            <a:off x="4343032" y="8226466"/>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6</a:t>
            </a:r>
            <a:endParaRPr lang="fr-FR" dirty="0"/>
          </a:p>
        </p:txBody>
      </p:sp>
      <p:sp>
        <p:nvSpPr>
          <p:cNvPr id="6" name="Rectangle 5">
            <a:extLst>
              <a:ext uri="{FF2B5EF4-FFF2-40B4-BE49-F238E27FC236}">
                <a16:creationId xmlns:a16="http://schemas.microsoft.com/office/drawing/2014/main" id="{B6421188-6EA4-E0EA-1DA3-F48243D8D533}"/>
              </a:ext>
            </a:extLst>
          </p:cNvPr>
          <p:cNvSpPr/>
          <p:nvPr/>
        </p:nvSpPr>
        <p:spPr>
          <a:xfrm>
            <a:off x="436114" y="239148"/>
            <a:ext cx="4271268" cy="6587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cs typeface="Times New Roman"/>
              </a:rPr>
              <a:t>Un vieux thermomètre semblant déréglé </a:t>
            </a:r>
            <a:endParaRPr lang="fr-FR" dirty="0"/>
          </a:p>
        </p:txBody>
      </p:sp>
    </p:spTree>
    <p:extLst>
      <p:ext uri="{BB962C8B-B14F-4D97-AF65-F5344CB8AC3E}">
        <p14:creationId xmlns:p14="http://schemas.microsoft.com/office/powerpoint/2010/main" val="3366057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5A974A36-17D2-0003-6DC9-E6E211EB3F16}"/>
            </a:ext>
          </a:extLst>
        </p:cNvPr>
        <p:cNvGrpSpPr/>
        <p:nvPr/>
      </p:nvGrpSpPr>
      <p:grpSpPr>
        <a:xfrm>
          <a:off x="0" y="0"/>
          <a:ext cx="0" cy="0"/>
          <a:chOff x="0" y="0"/>
          <a:chExt cx="0" cy="0"/>
        </a:xfrm>
      </p:grpSpPr>
      <p:sp>
        <p:nvSpPr>
          <p:cNvPr id="4" name="Ellipse 3">
            <a:extLst>
              <a:ext uri="{FF2B5EF4-FFF2-40B4-BE49-F238E27FC236}">
                <a16:creationId xmlns:a16="http://schemas.microsoft.com/office/drawing/2014/main" id="{A06CA403-0486-BF7F-7012-23F611D137C9}"/>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6</a:t>
            </a:r>
          </a:p>
        </p:txBody>
      </p:sp>
    </p:spTree>
    <p:extLst>
      <p:ext uri="{BB962C8B-B14F-4D97-AF65-F5344CB8AC3E}">
        <p14:creationId xmlns:p14="http://schemas.microsoft.com/office/powerpoint/2010/main" val="2051903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ED0A-EE4E-D870-2C4D-494BD13DA115}"/>
            </a:ext>
          </a:extLst>
        </p:cNvPr>
        <p:cNvGrpSpPr/>
        <p:nvPr/>
      </p:nvGrpSpPr>
      <p:grpSpPr>
        <a:xfrm>
          <a:off x="0" y="0"/>
          <a:ext cx="0" cy="0"/>
          <a:chOff x="0" y="0"/>
          <a:chExt cx="0" cy="0"/>
        </a:xfrm>
      </p:grpSpPr>
      <p:pic>
        <p:nvPicPr>
          <p:cNvPr id="3" name="Image 2" descr="Une image contenant texte, lettre, écriture manuscrite, Police&#10;&#10;Le contenu généré par l’IA peut être incorrect.">
            <a:extLst>
              <a:ext uri="{FF2B5EF4-FFF2-40B4-BE49-F238E27FC236}">
                <a16:creationId xmlns:a16="http://schemas.microsoft.com/office/drawing/2014/main" id="{7BE202C2-F272-0754-D14A-FB8E13A55EE7}"/>
              </a:ext>
            </a:extLst>
          </p:cNvPr>
          <p:cNvPicPr>
            <a:picLocks noChangeAspect="1"/>
          </p:cNvPicPr>
          <p:nvPr/>
        </p:nvPicPr>
        <p:blipFill>
          <a:blip r:embed="rId2"/>
          <a:stretch>
            <a:fillRect/>
          </a:stretch>
        </p:blipFill>
        <p:spPr>
          <a:xfrm>
            <a:off x="7520" y="15039"/>
            <a:ext cx="5143500" cy="9144000"/>
          </a:xfrm>
          <a:prstGeom prst="rect">
            <a:avLst/>
          </a:prstGeom>
        </p:spPr>
      </p:pic>
    </p:spTree>
    <p:extLst>
      <p:ext uri="{BB962C8B-B14F-4D97-AF65-F5344CB8AC3E}">
        <p14:creationId xmlns:p14="http://schemas.microsoft.com/office/powerpoint/2010/main" val="314879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B04BB071-B92B-74D4-0365-A0A574DDE508}"/>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5</a:t>
            </a:r>
          </a:p>
        </p:txBody>
      </p:sp>
    </p:spTree>
    <p:extLst>
      <p:ext uri="{BB962C8B-B14F-4D97-AF65-F5344CB8AC3E}">
        <p14:creationId xmlns:p14="http://schemas.microsoft.com/office/powerpoint/2010/main" val="875894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FBC8447-8374-5629-981F-ED3A9D4FBEED}"/>
              </a:ext>
            </a:extLst>
          </p:cNvPr>
          <p:cNvPicPr>
            <a:picLocks noChangeAspect="1"/>
          </p:cNvPicPr>
          <p:nvPr/>
        </p:nvPicPr>
        <p:blipFill>
          <a:blip r:embed="rId2"/>
          <a:srcRect l="-568" t="29235" r="-45" b="8666"/>
          <a:stretch/>
        </p:blipFill>
        <p:spPr>
          <a:xfrm>
            <a:off x="-14023" y="-11598"/>
            <a:ext cx="5155296" cy="9147069"/>
          </a:xfrm>
          <a:prstGeom prst="rect">
            <a:avLst/>
          </a:prstGeom>
        </p:spPr>
      </p:pic>
      <p:sp>
        <p:nvSpPr>
          <p:cNvPr id="11" name="Ellipse 10">
            <a:extLst>
              <a:ext uri="{FF2B5EF4-FFF2-40B4-BE49-F238E27FC236}">
                <a16:creationId xmlns:a16="http://schemas.microsoft.com/office/drawing/2014/main" id="{696630DA-1F19-D631-3425-BC34074CE0DA}"/>
              </a:ext>
            </a:extLst>
          </p:cNvPr>
          <p:cNvSpPr/>
          <p:nvPr/>
        </p:nvSpPr>
        <p:spPr>
          <a:xfrm>
            <a:off x="294907" y="161966"/>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3</a:t>
            </a:r>
          </a:p>
        </p:txBody>
      </p:sp>
      <p:sp>
        <p:nvSpPr>
          <p:cNvPr id="3" name="Rectangle 2">
            <a:extLst>
              <a:ext uri="{FF2B5EF4-FFF2-40B4-BE49-F238E27FC236}">
                <a16:creationId xmlns:a16="http://schemas.microsoft.com/office/drawing/2014/main" id="{C81E04A3-3C8E-22BC-FFC1-84A0377324A9}"/>
              </a:ext>
            </a:extLst>
          </p:cNvPr>
          <p:cNvSpPr/>
          <p:nvPr/>
        </p:nvSpPr>
        <p:spPr>
          <a:xfrm>
            <a:off x="420239" y="826523"/>
            <a:ext cx="4271268" cy="6587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Les </a:t>
            </a:r>
            <a:r>
              <a:rPr lang="fr-FR" dirty="0" err="1">
                <a:solidFill>
                  <a:srgbClr val="FFFFFF"/>
                </a:solidFill>
                <a:latin typeface="Times New Roman"/>
                <a:ea typeface="Aptos" panose="020B0004020202020204" pitchFamily="34" charset="0"/>
                <a:cs typeface="Times New Roman"/>
              </a:rPr>
              <a:t>Molécaséines</a:t>
            </a:r>
            <a:r>
              <a:rPr lang="fr-FR" dirty="0">
                <a:solidFill>
                  <a:srgbClr val="FFFFFF"/>
                </a:solidFill>
                <a:latin typeface="Times New Roman"/>
                <a:ea typeface="Aptos" panose="020B0004020202020204" pitchFamily="34" charset="0"/>
                <a:cs typeface="Times New Roman"/>
              </a:rPr>
              <a:t>, habitants de la planète</a:t>
            </a:r>
            <a:endParaRPr lang="fr-FR" dirty="0">
              <a:solidFill>
                <a:srgbClr val="FFFFFF"/>
              </a:solidFill>
              <a:effectLst/>
              <a:latin typeface="Times New Roman"/>
              <a:ea typeface="Aptos" panose="020B0004020202020204" pitchFamily="34" charset="0"/>
              <a:cs typeface="Times New Roman"/>
            </a:endParaRPr>
          </a:p>
        </p:txBody>
      </p:sp>
      <p:sp>
        <p:nvSpPr>
          <p:cNvPr id="4" name="Rectangle 3">
            <a:extLst>
              <a:ext uri="{FF2B5EF4-FFF2-40B4-BE49-F238E27FC236}">
                <a16:creationId xmlns:a16="http://schemas.microsoft.com/office/drawing/2014/main" id="{6E83F434-74E3-7454-438A-CBD5813AE5F0}"/>
              </a:ext>
            </a:extLst>
          </p:cNvPr>
          <p:cNvSpPr/>
          <p:nvPr/>
        </p:nvSpPr>
        <p:spPr>
          <a:xfrm>
            <a:off x="436113" y="5990075"/>
            <a:ext cx="4301346" cy="2147621"/>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"Aidez-nous!! Aidez-nous!!... Nous sommes coincés... Nous devons passer de l'autre côté du Labyrinthe des Lacs Acides mais le déséquilibre du pH nous en empêche... Trouvez le bon pH pour rétablir l'ordre dans Coagulum..." </a:t>
            </a:r>
            <a:endParaRPr lang="fr-FR" dirty="0">
              <a:solidFill>
                <a:srgbClr val="FFFFFF"/>
              </a:solidFill>
              <a:effectLst/>
              <a:latin typeface="Times New Roman"/>
              <a:ea typeface="Aptos" panose="020B0004020202020204" pitchFamily="34" charset="0"/>
              <a:cs typeface="Times New Roman"/>
            </a:endParaRPr>
          </a:p>
        </p:txBody>
      </p:sp>
      <p:sp>
        <p:nvSpPr>
          <p:cNvPr id="7" name="Ellipse 6">
            <a:extLst>
              <a:ext uri="{FF2B5EF4-FFF2-40B4-BE49-F238E27FC236}">
                <a16:creationId xmlns:a16="http://schemas.microsoft.com/office/drawing/2014/main" id="{0BBC5378-789E-2AFF-19C9-E7515C45C26E}"/>
              </a:ext>
            </a:extLst>
          </p:cNvPr>
          <p:cNvSpPr/>
          <p:nvPr/>
        </p:nvSpPr>
        <p:spPr>
          <a:xfrm>
            <a:off x="4200157" y="833759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7</a:t>
            </a:r>
            <a:endParaRPr lang="fr-FR" dirty="0"/>
          </a:p>
        </p:txBody>
      </p:sp>
      <p:cxnSp>
        <p:nvCxnSpPr>
          <p:cNvPr id="9" name="Connecteur droit avec flèche 8">
            <a:extLst>
              <a:ext uri="{FF2B5EF4-FFF2-40B4-BE49-F238E27FC236}">
                <a16:creationId xmlns:a16="http://schemas.microsoft.com/office/drawing/2014/main" id="{56B8846C-5521-2E13-01CB-FEA9A9559863}"/>
              </a:ext>
            </a:extLst>
          </p:cNvPr>
          <p:cNvCxnSpPr/>
          <p:nvPr/>
        </p:nvCxnSpPr>
        <p:spPr>
          <a:xfrm>
            <a:off x="345173" y="222188"/>
            <a:ext cx="427951" cy="416152"/>
          </a:xfrm>
          <a:prstGeom prst="straightConnector1">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7959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6" name="Ellipse 5">
            <a:extLst>
              <a:ext uri="{FF2B5EF4-FFF2-40B4-BE49-F238E27FC236}">
                <a16:creationId xmlns:a16="http://schemas.microsoft.com/office/drawing/2014/main" id="{E9EF499C-1570-8216-9043-4B635CA51D5F}"/>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7</a:t>
            </a:r>
          </a:p>
        </p:txBody>
      </p:sp>
    </p:spTree>
    <p:extLst>
      <p:ext uri="{BB962C8B-B14F-4D97-AF65-F5344CB8AC3E}">
        <p14:creationId xmlns:p14="http://schemas.microsoft.com/office/powerpoint/2010/main" val="403492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4B03F1-73A3-A319-0756-89614241533F}"/>
            </a:ext>
          </a:extLst>
        </p:cNvPr>
        <p:cNvGrpSpPr/>
        <p:nvPr/>
      </p:nvGrpSpPr>
      <p:grpSpPr>
        <a:xfrm>
          <a:off x="0" y="0"/>
          <a:ext cx="0" cy="0"/>
          <a:chOff x="0" y="0"/>
          <a:chExt cx="0" cy="0"/>
        </a:xfrm>
      </p:grpSpPr>
      <p:pic>
        <p:nvPicPr>
          <p:cNvPr id="3" name="Image 2" descr="Une image contenant Rectangle, motif, carré, Symétrie&#10;&#10;Le contenu généré par l’IA peut être incorrect.">
            <a:extLst>
              <a:ext uri="{FF2B5EF4-FFF2-40B4-BE49-F238E27FC236}">
                <a16:creationId xmlns:a16="http://schemas.microsoft.com/office/drawing/2014/main" id="{005FE41A-62E8-28D7-48CF-C79734A83768}"/>
              </a:ext>
            </a:extLst>
          </p:cNvPr>
          <p:cNvPicPr>
            <a:picLocks noChangeAspect="1"/>
          </p:cNvPicPr>
          <p:nvPr/>
        </p:nvPicPr>
        <p:blipFill>
          <a:blip r:embed="rId2"/>
          <a:stretch>
            <a:fillRect/>
          </a:stretch>
        </p:blipFill>
        <p:spPr>
          <a:xfrm>
            <a:off x="-7519" y="-5784"/>
            <a:ext cx="5143501" cy="9185646"/>
          </a:xfrm>
          <a:prstGeom prst="rect">
            <a:avLst/>
          </a:prstGeom>
        </p:spPr>
      </p:pic>
      <p:sp>
        <p:nvSpPr>
          <p:cNvPr id="6" name="ZoneTexte 5">
            <a:extLst>
              <a:ext uri="{FF2B5EF4-FFF2-40B4-BE49-F238E27FC236}">
                <a16:creationId xmlns:a16="http://schemas.microsoft.com/office/drawing/2014/main" id="{AE1254EE-9127-69A1-1BCE-6406566A4266}"/>
              </a:ext>
            </a:extLst>
          </p:cNvPr>
          <p:cNvSpPr txBox="1"/>
          <p:nvPr/>
        </p:nvSpPr>
        <p:spPr>
          <a:xfrm rot="5400000">
            <a:off x="1912644" y="767336"/>
            <a:ext cx="5621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0.5</a:t>
            </a:r>
          </a:p>
        </p:txBody>
      </p:sp>
      <p:sp>
        <p:nvSpPr>
          <p:cNvPr id="7" name="ZoneTexte 6">
            <a:extLst>
              <a:ext uri="{FF2B5EF4-FFF2-40B4-BE49-F238E27FC236}">
                <a16:creationId xmlns:a16="http://schemas.microsoft.com/office/drawing/2014/main" id="{E1755789-BD4B-677F-BE1A-8D4D18EC3B4A}"/>
              </a:ext>
            </a:extLst>
          </p:cNvPr>
          <p:cNvSpPr txBox="1"/>
          <p:nvPr/>
        </p:nvSpPr>
        <p:spPr>
          <a:xfrm>
            <a:off x="859881" y="2587114"/>
            <a:ext cx="5621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1.5</a:t>
            </a:r>
          </a:p>
        </p:txBody>
      </p:sp>
      <p:sp>
        <p:nvSpPr>
          <p:cNvPr id="8" name="ZoneTexte 7">
            <a:extLst>
              <a:ext uri="{FF2B5EF4-FFF2-40B4-BE49-F238E27FC236}">
                <a16:creationId xmlns:a16="http://schemas.microsoft.com/office/drawing/2014/main" id="{3F9DB580-90E2-CC26-139D-85F52BB230D8}"/>
              </a:ext>
            </a:extLst>
          </p:cNvPr>
          <p:cNvSpPr txBox="1"/>
          <p:nvPr/>
        </p:nvSpPr>
        <p:spPr>
          <a:xfrm>
            <a:off x="2198394" y="4933270"/>
            <a:ext cx="5621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3</a:t>
            </a:r>
          </a:p>
        </p:txBody>
      </p:sp>
      <p:sp>
        <p:nvSpPr>
          <p:cNvPr id="9" name="ZoneTexte 8">
            <a:extLst>
              <a:ext uri="{FF2B5EF4-FFF2-40B4-BE49-F238E27FC236}">
                <a16:creationId xmlns:a16="http://schemas.microsoft.com/office/drawing/2014/main" id="{4533EEA9-91A5-5C4A-2FAC-B09452ABD0C5}"/>
              </a:ext>
            </a:extLst>
          </p:cNvPr>
          <p:cNvSpPr txBox="1"/>
          <p:nvPr/>
        </p:nvSpPr>
        <p:spPr>
          <a:xfrm>
            <a:off x="4574630" y="8738256"/>
            <a:ext cx="5621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1.5</a:t>
            </a:r>
          </a:p>
        </p:txBody>
      </p:sp>
    </p:spTree>
    <p:extLst>
      <p:ext uri="{BB962C8B-B14F-4D97-AF65-F5344CB8AC3E}">
        <p14:creationId xmlns:p14="http://schemas.microsoft.com/office/powerpoint/2010/main" val="3761922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9A2B9A68-A435-F59A-636C-AF351CC5436C}"/>
            </a:ext>
          </a:extLst>
        </p:cNvPr>
        <p:cNvGrpSpPr/>
        <p:nvPr/>
      </p:nvGrpSpPr>
      <p:grpSpPr>
        <a:xfrm>
          <a:off x="0" y="0"/>
          <a:ext cx="0" cy="0"/>
          <a:chOff x="0" y="0"/>
          <a:chExt cx="0" cy="0"/>
        </a:xfrm>
      </p:grpSpPr>
      <p:sp>
        <p:nvSpPr>
          <p:cNvPr id="5" name="Ellipse 4">
            <a:extLst>
              <a:ext uri="{FF2B5EF4-FFF2-40B4-BE49-F238E27FC236}">
                <a16:creationId xmlns:a16="http://schemas.microsoft.com/office/drawing/2014/main" id="{FE566077-EE34-A6DA-A1EA-EBE246CA8B3D}"/>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20</a:t>
            </a:r>
          </a:p>
        </p:txBody>
      </p:sp>
    </p:spTree>
    <p:extLst>
      <p:ext uri="{BB962C8B-B14F-4D97-AF65-F5344CB8AC3E}">
        <p14:creationId xmlns:p14="http://schemas.microsoft.com/office/powerpoint/2010/main" val="2874119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7C7EAABE-D158-0E46-F3F0-FA9A41071A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925398-D3AC-3240-B966-7903027AE745}"/>
              </a:ext>
            </a:extLst>
          </p:cNvPr>
          <p:cNvSpPr/>
          <p:nvPr/>
        </p:nvSpPr>
        <p:spPr>
          <a:xfrm>
            <a:off x="324989" y="1001148"/>
            <a:ext cx="4271268" cy="6587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Centre de la planète Coagulum : Abri de la relique convoitée.</a:t>
            </a:r>
            <a:endParaRPr lang="fr-FR" dirty="0">
              <a:solidFill>
                <a:srgbClr val="FFFFFF"/>
              </a:solidFill>
              <a:effectLst/>
              <a:latin typeface="Times New Roman"/>
              <a:ea typeface="Aptos" panose="020B0004020202020204" pitchFamily="34" charset="0"/>
              <a:cs typeface="Times New Roman"/>
            </a:endParaRPr>
          </a:p>
        </p:txBody>
      </p:sp>
      <p:sp>
        <p:nvSpPr>
          <p:cNvPr id="6" name="Rectangle 5">
            <a:extLst>
              <a:ext uri="{FF2B5EF4-FFF2-40B4-BE49-F238E27FC236}">
                <a16:creationId xmlns:a16="http://schemas.microsoft.com/office/drawing/2014/main" id="{D9F155A7-B3D8-F845-9576-9F6077050990}"/>
              </a:ext>
            </a:extLst>
          </p:cNvPr>
          <p:cNvSpPr/>
          <p:nvPr/>
        </p:nvSpPr>
        <p:spPr>
          <a:xfrm>
            <a:off x="556429" y="6315095"/>
            <a:ext cx="4045676" cy="23732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Pour rétablir l'ordre dans Coagulum et obtenir la relique, vous devez rassembler les conditions de la coagulation :</a:t>
            </a:r>
            <a:endParaRPr lang="fr-FR" dirty="0"/>
          </a:p>
          <a:p>
            <a:pPr marL="285750" indent="-285750" algn="ctr">
              <a:buFont typeface="Calibri"/>
              <a:buChar char="-"/>
            </a:pPr>
            <a:r>
              <a:rPr lang="fr-FR" dirty="0">
                <a:solidFill>
                  <a:srgbClr val="FFFFFF"/>
                </a:solidFill>
                <a:latin typeface="Times New Roman"/>
                <a:ea typeface="Aptos" panose="020B0004020202020204" pitchFamily="34" charset="0"/>
                <a:cs typeface="Times New Roman"/>
              </a:rPr>
              <a:t>Une température idéale </a:t>
            </a:r>
          </a:p>
          <a:p>
            <a:pPr marL="285750" indent="-285750" algn="ctr">
              <a:buFont typeface="Calibri"/>
              <a:buChar char="-"/>
            </a:pPr>
            <a:r>
              <a:rPr lang="fr-FR" dirty="0">
                <a:solidFill>
                  <a:srgbClr val="FFFFFF"/>
                </a:solidFill>
                <a:latin typeface="Times New Roman"/>
                <a:ea typeface="Aptos" panose="020B0004020202020204" pitchFamily="34" charset="0"/>
                <a:cs typeface="Times New Roman"/>
              </a:rPr>
              <a:t>Un pH stable</a:t>
            </a:r>
          </a:p>
          <a:p>
            <a:pPr marL="285750" indent="-285750" algn="ctr">
              <a:buFont typeface="Calibri"/>
              <a:buChar char="-"/>
            </a:pPr>
            <a:r>
              <a:rPr lang="fr-FR" dirty="0">
                <a:solidFill>
                  <a:srgbClr val="FFFFFF"/>
                </a:solidFill>
                <a:latin typeface="Times New Roman"/>
                <a:ea typeface="Aptos" panose="020B0004020202020204" pitchFamily="34" charset="0"/>
                <a:cs typeface="Times New Roman"/>
              </a:rPr>
              <a:t>Un enzyme qui lie tout</a:t>
            </a:r>
          </a:p>
        </p:txBody>
      </p:sp>
      <p:sp>
        <p:nvSpPr>
          <p:cNvPr id="9" name="Ellipse 8">
            <a:extLst>
              <a:ext uri="{FF2B5EF4-FFF2-40B4-BE49-F238E27FC236}">
                <a16:creationId xmlns:a16="http://schemas.microsoft.com/office/drawing/2014/main" id="{2D45D21F-425F-9651-A1F9-E43A326B17AD}"/>
              </a:ext>
            </a:extLst>
          </p:cNvPr>
          <p:cNvSpPr/>
          <p:nvPr/>
        </p:nvSpPr>
        <p:spPr>
          <a:xfrm>
            <a:off x="1025157" y="17784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6</a:t>
            </a:r>
            <a:endParaRPr lang="fr-FR" dirty="0"/>
          </a:p>
        </p:txBody>
      </p:sp>
      <p:sp>
        <p:nvSpPr>
          <p:cNvPr id="11" name="Ellipse 10">
            <a:extLst>
              <a:ext uri="{FF2B5EF4-FFF2-40B4-BE49-F238E27FC236}">
                <a16:creationId xmlns:a16="http://schemas.microsoft.com/office/drawing/2014/main" id="{82B577F8-3B7E-9769-FE9D-D9E490680563}"/>
              </a:ext>
            </a:extLst>
          </p:cNvPr>
          <p:cNvSpPr/>
          <p:nvPr/>
        </p:nvSpPr>
        <p:spPr>
          <a:xfrm>
            <a:off x="288557" y="171491"/>
            <a:ext cx="535245" cy="523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000" dirty="0"/>
              <a:t>4</a:t>
            </a:r>
            <a:endParaRPr lang="fr-FR" dirty="0"/>
          </a:p>
        </p:txBody>
      </p:sp>
      <p:cxnSp>
        <p:nvCxnSpPr>
          <p:cNvPr id="13" name="Connecteur droit avec flèche 12">
            <a:extLst>
              <a:ext uri="{FF2B5EF4-FFF2-40B4-BE49-F238E27FC236}">
                <a16:creationId xmlns:a16="http://schemas.microsoft.com/office/drawing/2014/main" id="{BBF9A522-488D-4D2C-DD98-C7B5C620BF9E}"/>
              </a:ext>
            </a:extLst>
          </p:cNvPr>
          <p:cNvCxnSpPr/>
          <p:nvPr/>
        </p:nvCxnSpPr>
        <p:spPr>
          <a:xfrm>
            <a:off x="345173" y="222188"/>
            <a:ext cx="427951" cy="416152"/>
          </a:xfrm>
          <a:prstGeom prst="straightConnector1">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957ADC9B-954D-B17C-7A3F-17662FED79EB}"/>
              </a:ext>
            </a:extLst>
          </p:cNvPr>
          <p:cNvCxnSpPr/>
          <p:nvPr/>
        </p:nvCxnSpPr>
        <p:spPr>
          <a:xfrm>
            <a:off x="1084948" y="231713"/>
            <a:ext cx="427951" cy="416152"/>
          </a:xfrm>
          <a:prstGeom prst="straightConnector1">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4812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88E37D24-1398-5BD7-52BD-D7B5BF5ECBA6}"/>
              </a:ext>
            </a:extLst>
          </p:cNvPr>
          <p:cNvSpPr/>
          <p:nvPr/>
        </p:nvSpPr>
        <p:spPr>
          <a:xfrm>
            <a:off x="221882" y="231816"/>
            <a:ext cx="1076666" cy="1123231"/>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400" dirty="0"/>
              <a:t>28.5</a:t>
            </a:r>
          </a:p>
        </p:txBody>
      </p:sp>
    </p:spTree>
    <p:extLst>
      <p:ext uri="{BB962C8B-B14F-4D97-AF65-F5344CB8AC3E}">
        <p14:creationId xmlns:p14="http://schemas.microsoft.com/office/powerpoint/2010/main" val="1304544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a:extLst>
            <a:ext uri="{FF2B5EF4-FFF2-40B4-BE49-F238E27FC236}">
              <a16:creationId xmlns:a16="http://schemas.microsoft.com/office/drawing/2014/main" id="{88B1F03B-E4D4-1197-3A00-8F7E00F2F4B9}"/>
            </a:ext>
          </a:extLst>
        </p:cNvPr>
        <p:cNvGrpSpPr/>
        <p:nvPr/>
      </p:nvGrpSpPr>
      <p:grpSpPr>
        <a:xfrm>
          <a:off x="0" y="0"/>
          <a:ext cx="0" cy="0"/>
          <a:chOff x="0" y="0"/>
          <a:chExt cx="0" cy="0"/>
        </a:xfrm>
      </p:grpSpPr>
      <p:pic>
        <p:nvPicPr>
          <p:cNvPr id="2" name="Image 1" descr="Une image contenant art, peinture&#10;&#10;Le contenu généré par l’IA peut être incorrect.">
            <a:extLst>
              <a:ext uri="{FF2B5EF4-FFF2-40B4-BE49-F238E27FC236}">
                <a16:creationId xmlns:a16="http://schemas.microsoft.com/office/drawing/2014/main" id="{4EA8ED4A-B619-AAE0-1679-14F366F8A76F}"/>
              </a:ext>
            </a:extLst>
          </p:cNvPr>
          <p:cNvPicPr>
            <a:picLocks noChangeAspect="1"/>
          </p:cNvPicPr>
          <p:nvPr/>
        </p:nvPicPr>
        <p:blipFill>
          <a:blip r:embed="rId3"/>
          <a:stretch>
            <a:fillRect/>
          </a:stretch>
        </p:blipFill>
        <p:spPr>
          <a:xfrm>
            <a:off x="90237" y="2135605"/>
            <a:ext cx="4963027" cy="4887829"/>
          </a:xfrm>
          <a:custGeom>
            <a:avLst/>
            <a:gdLst>
              <a:gd name="connsiteX0" fmla="*/ 0 w 4963027"/>
              <a:gd name="connsiteY0" fmla="*/ 0 h 4887829"/>
              <a:gd name="connsiteX1" fmla="*/ 650708 w 4963027"/>
              <a:gd name="connsiteY1" fmla="*/ 0 h 4887829"/>
              <a:gd name="connsiteX2" fmla="*/ 1102895 w 4963027"/>
              <a:gd name="connsiteY2" fmla="*/ 0 h 4887829"/>
              <a:gd name="connsiteX3" fmla="*/ 1604712 w 4963027"/>
              <a:gd name="connsiteY3" fmla="*/ 0 h 4887829"/>
              <a:gd name="connsiteX4" fmla="*/ 2205790 w 4963027"/>
              <a:gd name="connsiteY4" fmla="*/ 0 h 4887829"/>
              <a:gd name="connsiteX5" fmla="*/ 2657977 w 4963027"/>
              <a:gd name="connsiteY5" fmla="*/ 0 h 4887829"/>
              <a:gd name="connsiteX6" fmla="*/ 3159794 w 4963027"/>
              <a:gd name="connsiteY6" fmla="*/ 0 h 4887829"/>
              <a:gd name="connsiteX7" fmla="*/ 3711241 w 4963027"/>
              <a:gd name="connsiteY7" fmla="*/ 0 h 4887829"/>
              <a:gd name="connsiteX8" fmla="*/ 4312319 w 4963027"/>
              <a:gd name="connsiteY8" fmla="*/ 0 h 4887829"/>
              <a:gd name="connsiteX9" fmla="*/ 4963027 w 4963027"/>
              <a:gd name="connsiteY9" fmla="*/ 0 h 4887829"/>
              <a:gd name="connsiteX10" fmla="*/ 4963027 w 4963027"/>
              <a:gd name="connsiteY10" fmla="*/ 591970 h 4887829"/>
              <a:gd name="connsiteX11" fmla="*/ 4963027 w 4963027"/>
              <a:gd name="connsiteY11" fmla="*/ 1037306 h 4887829"/>
              <a:gd name="connsiteX12" fmla="*/ 4963027 w 4963027"/>
              <a:gd name="connsiteY12" fmla="*/ 1678155 h 4887829"/>
              <a:gd name="connsiteX13" fmla="*/ 4963027 w 4963027"/>
              <a:gd name="connsiteY13" fmla="*/ 2221247 h 4887829"/>
              <a:gd name="connsiteX14" fmla="*/ 4963027 w 4963027"/>
              <a:gd name="connsiteY14" fmla="*/ 2666582 h 4887829"/>
              <a:gd name="connsiteX15" fmla="*/ 4963027 w 4963027"/>
              <a:gd name="connsiteY15" fmla="*/ 3307431 h 4887829"/>
              <a:gd name="connsiteX16" fmla="*/ 4963027 w 4963027"/>
              <a:gd name="connsiteY16" fmla="*/ 3850523 h 4887829"/>
              <a:gd name="connsiteX17" fmla="*/ 4963027 w 4963027"/>
              <a:gd name="connsiteY17" fmla="*/ 4295859 h 4887829"/>
              <a:gd name="connsiteX18" fmla="*/ 4963027 w 4963027"/>
              <a:gd name="connsiteY18" fmla="*/ 4887829 h 4887829"/>
              <a:gd name="connsiteX19" fmla="*/ 4361949 w 4963027"/>
              <a:gd name="connsiteY19" fmla="*/ 4887829 h 4887829"/>
              <a:gd name="connsiteX20" fmla="*/ 3760872 w 4963027"/>
              <a:gd name="connsiteY20" fmla="*/ 4887829 h 4887829"/>
              <a:gd name="connsiteX21" fmla="*/ 3259054 w 4963027"/>
              <a:gd name="connsiteY21" fmla="*/ 4887829 h 4887829"/>
              <a:gd name="connsiteX22" fmla="*/ 2707607 w 4963027"/>
              <a:gd name="connsiteY22" fmla="*/ 4887829 h 4887829"/>
              <a:gd name="connsiteX23" fmla="*/ 2205790 w 4963027"/>
              <a:gd name="connsiteY23" fmla="*/ 4887829 h 4887829"/>
              <a:gd name="connsiteX24" fmla="*/ 1753603 w 4963027"/>
              <a:gd name="connsiteY24" fmla="*/ 4887829 h 4887829"/>
              <a:gd name="connsiteX25" fmla="*/ 1251786 w 4963027"/>
              <a:gd name="connsiteY25" fmla="*/ 4887829 h 4887829"/>
              <a:gd name="connsiteX26" fmla="*/ 601078 w 4963027"/>
              <a:gd name="connsiteY26" fmla="*/ 4887829 h 4887829"/>
              <a:gd name="connsiteX27" fmla="*/ 0 w 4963027"/>
              <a:gd name="connsiteY27" fmla="*/ 4887829 h 4887829"/>
              <a:gd name="connsiteX28" fmla="*/ 0 w 4963027"/>
              <a:gd name="connsiteY28" fmla="*/ 4491372 h 4887829"/>
              <a:gd name="connsiteX29" fmla="*/ 0 w 4963027"/>
              <a:gd name="connsiteY29" fmla="*/ 4094915 h 4887829"/>
              <a:gd name="connsiteX30" fmla="*/ 0 w 4963027"/>
              <a:gd name="connsiteY30" fmla="*/ 3454066 h 4887829"/>
              <a:gd name="connsiteX31" fmla="*/ 0 w 4963027"/>
              <a:gd name="connsiteY31" fmla="*/ 2910974 h 4887829"/>
              <a:gd name="connsiteX32" fmla="*/ 0 w 4963027"/>
              <a:gd name="connsiteY32" fmla="*/ 2465638 h 4887829"/>
              <a:gd name="connsiteX33" fmla="*/ 0 w 4963027"/>
              <a:gd name="connsiteY33" fmla="*/ 2020303 h 4887829"/>
              <a:gd name="connsiteX34" fmla="*/ 0 w 4963027"/>
              <a:gd name="connsiteY34" fmla="*/ 1574967 h 4887829"/>
              <a:gd name="connsiteX35" fmla="*/ 0 w 4963027"/>
              <a:gd name="connsiteY35" fmla="*/ 1178510 h 4887829"/>
              <a:gd name="connsiteX36" fmla="*/ 0 w 4963027"/>
              <a:gd name="connsiteY36" fmla="*/ 782053 h 4887829"/>
              <a:gd name="connsiteX37" fmla="*/ 0 w 4963027"/>
              <a:gd name="connsiteY37" fmla="*/ 0 h 488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63027" h="4887829" fill="none" extrusionOk="0">
                <a:moveTo>
                  <a:pt x="0" y="0"/>
                </a:moveTo>
                <a:cubicBezTo>
                  <a:pt x="134481" y="-30605"/>
                  <a:pt x="393537" y="45"/>
                  <a:pt x="650708" y="0"/>
                </a:cubicBezTo>
                <a:cubicBezTo>
                  <a:pt x="907879" y="-45"/>
                  <a:pt x="879994" y="46877"/>
                  <a:pt x="1102895" y="0"/>
                </a:cubicBezTo>
                <a:cubicBezTo>
                  <a:pt x="1325796" y="-46877"/>
                  <a:pt x="1410260" y="52812"/>
                  <a:pt x="1604712" y="0"/>
                </a:cubicBezTo>
                <a:cubicBezTo>
                  <a:pt x="1799164" y="-52812"/>
                  <a:pt x="1905630" y="5524"/>
                  <a:pt x="2205790" y="0"/>
                </a:cubicBezTo>
                <a:cubicBezTo>
                  <a:pt x="2505950" y="-5524"/>
                  <a:pt x="2560588" y="51071"/>
                  <a:pt x="2657977" y="0"/>
                </a:cubicBezTo>
                <a:cubicBezTo>
                  <a:pt x="2755366" y="-51071"/>
                  <a:pt x="2914749" y="27647"/>
                  <a:pt x="3159794" y="0"/>
                </a:cubicBezTo>
                <a:cubicBezTo>
                  <a:pt x="3404839" y="-27647"/>
                  <a:pt x="3580974" y="41638"/>
                  <a:pt x="3711241" y="0"/>
                </a:cubicBezTo>
                <a:cubicBezTo>
                  <a:pt x="3841508" y="-41638"/>
                  <a:pt x="4174426" y="63147"/>
                  <a:pt x="4312319" y="0"/>
                </a:cubicBezTo>
                <a:cubicBezTo>
                  <a:pt x="4450212" y="-63147"/>
                  <a:pt x="4769267" y="49604"/>
                  <a:pt x="4963027" y="0"/>
                </a:cubicBezTo>
                <a:cubicBezTo>
                  <a:pt x="4971166" y="167967"/>
                  <a:pt x="4906226" y="450397"/>
                  <a:pt x="4963027" y="591970"/>
                </a:cubicBezTo>
                <a:cubicBezTo>
                  <a:pt x="5019828" y="733543"/>
                  <a:pt x="4935413" y="891290"/>
                  <a:pt x="4963027" y="1037306"/>
                </a:cubicBezTo>
                <a:cubicBezTo>
                  <a:pt x="4990641" y="1183322"/>
                  <a:pt x="4958744" y="1366626"/>
                  <a:pt x="4963027" y="1678155"/>
                </a:cubicBezTo>
                <a:cubicBezTo>
                  <a:pt x="4967310" y="1989684"/>
                  <a:pt x="4934374" y="2074702"/>
                  <a:pt x="4963027" y="2221247"/>
                </a:cubicBezTo>
                <a:cubicBezTo>
                  <a:pt x="4991680" y="2367792"/>
                  <a:pt x="4909882" y="2555253"/>
                  <a:pt x="4963027" y="2666582"/>
                </a:cubicBezTo>
                <a:cubicBezTo>
                  <a:pt x="5016172" y="2777912"/>
                  <a:pt x="4901455" y="3128712"/>
                  <a:pt x="4963027" y="3307431"/>
                </a:cubicBezTo>
                <a:cubicBezTo>
                  <a:pt x="5024599" y="3486150"/>
                  <a:pt x="4914105" y="3600588"/>
                  <a:pt x="4963027" y="3850523"/>
                </a:cubicBezTo>
                <a:cubicBezTo>
                  <a:pt x="5011949" y="4100458"/>
                  <a:pt x="4920335" y="4136207"/>
                  <a:pt x="4963027" y="4295859"/>
                </a:cubicBezTo>
                <a:cubicBezTo>
                  <a:pt x="5005719" y="4455511"/>
                  <a:pt x="4906560" y="4708677"/>
                  <a:pt x="4963027" y="4887829"/>
                </a:cubicBezTo>
                <a:cubicBezTo>
                  <a:pt x="4696518" y="4895459"/>
                  <a:pt x="4543847" y="4845656"/>
                  <a:pt x="4361949" y="4887829"/>
                </a:cubicBezTo>
                <a:cubicBezTo>
                  <a:pt x="4180051" y="4930002"/>
                  <a:pt x="3999961" y="4875384"/>
                  <a:pt x="3760872" y="4887829"/>
                </a:cubicBezTo>
                <a:cubicBezTo>
                  <a:pt x="3521783" y="4900274"/>
                  <a:pt x="3468770" y="4836922"/>
                  <a:pt x="3259054" y="4887829"/>
                </a:cubicBezTo>
                <a:cubicBezTo>
                  <a:pt x="3049338" y="4938736"/>
                  <a:pt x="2838233" y="4842179"/>
                  <a:pt x="2707607" y="4887829"/>
                </a:cubicBezTo>
                <a:cubicBezTo>
                  <a:pt x="2576981" y="4933479"/>
                  <a:pt x="2352413" y="4857828"/>
                  <a:pt x="2205790" y="4887829"/>
                </a:cubicBezTo>
                <a:cubicBezTo>
                  <a:pt x="2059167" y="4917830"/>
                  <a:pt x="1866424" y="4862957"/>
                  <a:pt x="1753603" y="4887829"/>
                </a:cubicBezTo>
                <a:cubicBezTo>
                  <a:pt x="1640782" y="4912701"/>
                  <a:pt x="1388336" y="4849701"/>
                  <a:pt x="1251786" y="4887829"/>
                </a:cubicBezTo>
                <a:cubicBezTo>
                  <a:pt x="1115236" y="4925957"/>
                  <a:pt x="794313" y="4810585"/>
                  <a:pt x="601078" y="4887829"/>
                </a:cubicBezTo>
                <a:cubicBezTo>
                  <a:pt x="407843" y="4965073"/>
                  <a:pt x="248172" y="4862280"/>
                  <a:pt x="0" y="4887829"/>
                </a:cubicBezTo>
                <a:cubicBezTo>
                  <a:pt x="-26635" y="4772358"/>
                  <a:pt x="530" y="4665073"/>
                  <a:pt x="0" y="4491372"/>
                </a:cubicBezTo>
                <a:cubicBezTo>
                  <a:pt x="-530" y="4317671"/>
                  <a:pt x="13229" y="4182943"/>
                  <a:pt x="0" y="4094915"/>
                </a:cubicBezTo>
                <a:cubicBezTo>
                  <a:pt x="-13229" y="4006887"/>
                  <a:pt x="67060" y="3672267"/>
                  <a:pt x="0" y="3454066"/>
                </a:cubicBezTo>
                <a:cubicBezTo>
                  <a:pt x="-67060" y="3235865"/>
                  <a:pt x="29258" y="3139337"/>
                  <a:pt x="0" y="2910974"/>
                </a:cubicBezTo>
                <a:cubicBezTo>
                  <a:pt x="-29258" y="2682611"/>
                  <a:pt x="30367" y="2622281"/>
                  <a:pt x="0" y="2465638"/>
                </a:cubicBezTo>
                <a:cubicBezTo>
                  <a:pt x="-30367" y="2308995"/>
                  <a:pt x="28265" y="2155373"/>
                  <a:pt x="0" y="2020303"/>
                </a:cubicBezTo>
                <a:cubicBezTo>
                  <a:pt x="-28265" y="1885234"/>
                  <a:pt x="26810" y="1766348"/>
                  <a:pt x="0" y="1574967"/>
                </a:cubicBezTo>
                <a:cubicBezTo>
                  <a:pt x="-26810" y="1383586"/>
                  <a:pt x="41087" y="1344843"/>
                  <a:pt x="0" y="1178510"/>
                </a:cubicBezTo>
                <a:cubicBezTo>
                  <a:pt x="-41087" y="1012177"/>
                  <a:pt x="40445" y="922665"/>
                  <a:pt x="0" y="782053"/>
                </a:cubicBezTo>
                <a:cubicBezTo>
                  <a:pt x="-40445" y="641441"/>
                  <a:pt x="86219" y="342516"/>
                  <a:pt x="0" y="0"/>
                </a:cubicBezTo>
                <a:close/>
              </a:path>
              <a:path w="4963027" h="4887829" stroke="0" extrusionOk="0">
                <a:moveTo>
                  <a:pt x="0" y="0"/>
                </a:moveTo>
                <a:cubicBezTo>
                  <a:pt x="152464" y="-12944"/>
                  <a:pt x="393200" y="58228"/>
                  <a:pt x="501817" y="0"/>
                </a:cubicBezTo>
                <a:cubicBezTo>
                  <a:pt x="610434" y="-58228"/>
                  <a:pt x="828949" y="27636"/>
                  <a:pt x="954004" y="0"/>
                </a:cubicBezTo>
                <a:cubicBezTo>
                  <a:pt x="1079059" y="-27636"/>
                  <a:pt x="1272639" y="11710"/>
                  <a:pt x="1406191" y="0"/>
                </a:cubicBezTo>
                <a:cubicBezTo>
                  <a:pt x="1539743" y="-11710"/>
                  <a:pt x="1724897" y="26976"/>
                  <a:pt x="1808748" y="0"/>
                </a:cubicBezTo>
                <a:cubicBezTo>
                  <a:pt x="1892599" y="-26976"/>
                  <a:pt x="2111887" y="2846"/>
                  <a:pt x="2211304" y="0"/>
                </a:cubicBezTo>
                <a:cubicBezTo>
                  <a:pt x="2310721" y="-2846"/>
                  <a:pt x="2420903" y="501"/>
                  <a:pt x="2613861" y="0"/>
                </a:cubicBezTo>
                <a:cubicBezTo>
                  <a:pt x="2806819" y="-501"/>
                  <a:pt x="3024856" y="55424"/>
                  <a:pt x="3214939" y="0"/>
                </a:cubicBezTo>
                <a:cubicBezTo>
                  <a:pt x="3405022" y="-55424"/>
                  <a:pt x="3422107" y="27514"/>
                  <a:pt x="3617495" y="0"/>
                </a:cubicBezTo>
                <a:cubicBezTo>
                  <a:pt x="3812883" y="-27514"/>
                  <a:pt x="3893958" y="30855"/>
                  <a:pt x="4069682" y="0"/>
                </a:cubicBezTo>
                <a:cubicBezTo>
                  <a:pt x="4245406" y="-30855"/>
                  <a:pt x="4743234" y="49317"/>
                  <a:pt x="4963027" y="0"/>
                </a:cubicBezTo>
                <a:cubicBezTo>
                  <a:pt x="5016141" y="317626"/>
                  <a:pt x="4950331" y="323091"/>
                  <a:pt x="4963027" y="640849"/>
                </a:cubicBezTo>
                <a:cubicBezTo>
                  <a:pt x="4975723" y="958607"/>
                  <a:pt x="4951931" y="888506"/>
                  <a:pt x="4963027" y="1086184"/>
                </a:cubicBezTo>
                <a:cubicBezTo>
                  <a:pt x="4974123" y="1283862"/>
                  <a:pt x="4958456" y="1423464"/>
                  <a:pt x="4963027" y="1629276"/>
                </a:cubicBezTo>
                <a:cubicBezTo>
                  <a:pt x="4967598" y="1835088"/>
                  <a:pt x="4924056" y="2082452"/>
                  <a:pt x="4963027" y="2221247"/>
                </a:cubicBezTo>
                <a:cubicBezTo>
                  <a:pt x="5001998" y="2360042"/>
                  <a:pt x="4898899" y="2546876"/>
                  <a:pt x="4963027" y="2813217"/>
                </a:cubicBezTo>
                <a:cubicBezTo>
                  <a:pt x="5027155" y="3079558"/>
                  <a:pt x="4939860" y="3284408"/>
                  <a:pt x="4963027" y="3405188"/>
                </a:cubicBezTo>
                <a:cubicBezTo>
                  <a:pt x="4986194" y="3525968"/>
                  <a:pt x="4957070" y="3640803"/>
                  <a:pt x="4963027" y="3801645"/>
                </a:cubicBezTo>
                <a:cubicBezTo>
                  <a:pt x="4968984" y="3962487"/>
                  <a:pt x="4957523" y="4489430"/>
                  <a:pt x="4963027" y="4887829"/>
                </a:cubicBezTo>
                <a:cubicBezTo>
                  <a:pt x="4800822" y="4899989"/>
                  <a:pt x="4706639" y="4829399"/>
                  <a:pt x="4461210" y="4887829"/>
                </a:cubicBezTo>
                <a:cubicBezTo>
                  <a:pt x="4215781" y="4946259"/>
                  <a:pt x="4144429" y="4878379"/>
                  <a:pt x="3909762" y="4887829"/>
                </a:cubicBezTo>
                <a:cubicBezTo>
                  <a:pt x="3675095" y="4897279"/>
                  <a:pt x="3561178" y="4854798"/>
                  <a:pt x="3407945" y="4887829"/>
                </a:cubicBezTo>
                <a:cubicBezTo>
                  <a:pt x="3254712" y="4920860"/>
                  <a:pt x="3110863" y="4886820"/>
                  <a:pt x="3005389" y="4887829"/>
                </a:cubicBezTo>
                <a:cubicBezTo>
                  <a:pt x="2899915" y="4888838"/>
                  <a:pt x="2623692" y="4845531"/>
                  <a:pt x="2453941" y="4887829"/>
                </a:cubicBezTo>
                <a:cubicBezTo>
                  <a:pt x="2284190" y="4930127"/>
                  <a:pt x="2156368" y="4845641"/>
                  <a:pt x="1902494" y="4887829"/>
                </a:cubicBezTo>
                <a:cubicBezTo>
                  <a:pt x="1648620" y="4930017"/>
                  <a:pt x="1515516" y="4884771"/>
                  <a:pt x="1301416" y="4887829"/>
                </a:cubicBezTo>
                <a:cubicBezTo>
                  <a:pt x="1087316" y="4890887"/>
                  <a:pt x="857450" y="4832459"/>
                  <a:pt x="650708" y="4887829"/>
                </a:cubicBezTo>
                <a:cubicBezTo>
                  <a:pt x="443966" y="4943199"/>
                  <a:pt x="222291" y="4858907"/>
                  <a:pt x="0" y="4887829"/>
                </a:cubicBezTo>
                <a:cubicBezTo>
                  <a:pt x="-43526" y="4652525"/>
                  <a:pt x="10306" y="4468774"/>
                  <a:pt x="0" y="4246980"/>
                </a:cubicBezTo>
                <a:cubicBezTo>
                  <a:pt x="-10306" y="4025186"/>
                  <a:pt x="6927" y="3899129"/>
                  <a:pt x="0" y="3752766"/>
                </a:cubicBezTo>
                <a:cubicBezTo>
                  <a:pt x="-6927" y="3606403"/>
                  <a:pt x="34477" y="3462321"/>
                  <a:pt x="0" y="3356309"/>
                </a:cubicBezTo>
                <a:cubicBezTo>
                  <a:pt x="-34477" y="3250297"/>
                  <a:pt x="18760" y="2990362"/>
                  <a:pt x="0" y="2813217"/>
                </a:cubicBezTo>
                <a:cubicBezTo>
                  <a:pt x="-18760" y="2636072"/>
                  <a:pt x="19930" y="2513455"/>
                  <a:pt x="0" y="2270125"/>
                </a:cubicBezTo>
                <a:cubicBezTo>
                  <a:pt x="-19930" y="2026795"/>
                  <a:pt x="47186" y="1951538"/>
                  <a:pt x="0" y="1678155"/>
                </a:cubicBezTo>
                <a:cubicBezTo>
                  <a:pt x="-47186" y="1404772"/>
                  <a:pt x="7908" y="1171558"/>
                  <a:pt x="0" y="1037306"/>
                </a:cubicBezTo>
                <a:cubicBezTo>
                  <a:pt x="-7908" y="903054"/>
                  <a:pt x="26862" y="788350"/>
                  <a:pt x="0" y="543092"/>
                </a:cubicBezTo>
                <a:cubicBezTo>
                  <a:pt x="-26862" y="297834"/>
                  <a:pt x="22763" y="121128"/>
                  <a:pt x="0" y="0"/>
                </a:cubicBezTo>
                <a:close/>
              </a:path>
            </a:pathLst>
          </a:custGeom>
          <a:ln w="57150">
            <a:solidFill>
              <a:srgbClr val="FFFFFF"/>
            </a:solidFill>
            <a:extLst>
              <a:ext uri="{C807C97D-BFC1-408E-A445-0C87EB9F89A2}">
                <ask:lineSketchStyleProps xmlns:ask="http://schemas.microsoft.com/office/drawing/2018/sketchyshapes" sd="3499211612">
                  <a:prstGeom prst="rect">
                    <a:avLst/>
                  </a:prstGeom>
                  <ask:type>
                    <ask:lineSketchScribble/>
                  </ask:type>
                </ask:lineSketchStyleProps>
              </a:ext>
            </a:extLst>
          </a:ln>
        </p:spPr>
      </p:pic>
      <p:sp>
        <p:nvSpPr>
          <p:cNvPr id="7" name="Rectangle 6">
            <a:extLst>
              <a:ext uri="{FF2B5EF4-FFF2-40B4-BE49-F238E27FC236}">
                <a16:creationId xmlns:a16="http://schemas.microsoft.com/office/drawing/2014/main" id="{248031E1-B18D-B9D0-F9E5-222AFDD848B0}"/>
              </a:ext>
            </a:extLst>
          </p:cNvPr>
          <p:cNvSpPr/>
          <p:nvPr/>
        </p:nvSpPr>
        <p:spPr>
          <a:xfrm>
            <a:off x="436114" y="651898"/>
            <a:ext cx="4271268" cy="6587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Le Cœur de Coagulum</a:t>
            </a:r>
            <a:endParaRPr lang="fr-FR" dirty="0">
              <a:solidFill>
                <a:srgbClr val="FFFFFF"/>
              </a:solidFill>
              <a:effectLst/>
              <a:latin typeface="Times New Roman"/>
              <a:ea typeface="Aptos" panose="020B0004020202020204" pitchFamily="34" charset="0"/>
              <a:cs typeface="Times New Roman"/>
            </a:endParaRPr>
          </a:p>
        </p:txBody>
      </p:sp>
    </p:spTree>
    <p:extLst>
      <p:ext uri="{BB962C8B-B14F-4D97-AF65-F5344CB8AC3E}">
        <p14:creationId xmlns:p14="http://schemas.microsoft.com/office/powerpoint/2010/main" val="1665153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723C0C07-2342-F121-F6DF-D19EF6CEB733}"/>
              </a:ext>
            </a:extLst>
          </p:cNvPr>
          <p:cNvSpPr/>
          <p:nvPr/>
        </p:nvSpPr>
        <p:spPr>
          <a:xfrm>
            <a:off x="221882" y="231816"/>
            <a:ext cx="820995" cy="777323"/>
          </a:xfrm>
          <a:prstGeom prst="ellipse">
            <a:avLst/>
          </a:prstGeom>
          <a:solidFill>
            <a:srgbClr val="FFC000"/>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800" dirty="0"/>
              <a:t>35</a:t>
            </a:r>
          </a:p>
        </p:txBody>
      </p:sp>
    </p:spTree>
    <p:extLst>
      <p:ext uri="{BB962C8B-B14F-4D97-AF65-F5344CB8AC3E}">
        <p14:creationId xmlns:p14="http://schemas.microsoft.com/office/powerpoint/2010/main" val="1962619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l="-6000" r="-6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8426CC-904A-0399-19B9-03D25279C4E8}"/>
              </a:ext>
            </a:extLst>
          </p:cNvPr>
          <p:cNvSpPr/>
          <p:nvPr/>
        </p:nvSpPr>
        <p:spPr>
          <a:xfrm>
            <a:off x="848864" y="191523"/>
            <a:ext cx="3445768" cy="62696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Intolérance au lactose</a:t>
            </a:r>
            <a:endParaRPr lang="fr-FR" dirty="0">
              <a:solidFill>
                <a:srgbClr val="FFFFFF"/>
              </a:solidFill>
              <a:effectLst/>
              <a:latin typeface="Times New Roman"/>
              <a:ea typeface="Aptos" panose="020B0004020202020204" pitchFamily="34" charset="0"/>
              <a:cs typeface="Times New Roman"/>
            </a:endParaRPr>
          </a:p>
        </p:txBody>
      </p:sp>
      <p:sp>
        <p:nvSpPr>
          <p:cNvPr id="8" name="Rectangle 7">
            <a:extLst>
              <a:ext uri="{FF2B5EF4-FFF2-40B4-BE49-F238E27FC236}">
                <a16:creationId xmlns:a16="http://schemas.microsoft.com/office/drawing/2014/main" id="{DF0D7004-36D4-1107-51B0-96F2D41D8F9A}"/>
              </a:ext>
            </a:extLst>
          </p:cNvPr>
          <p:cNvSpPr/>
          <p:nvPr/>
        </p:nvSpPr>
        <p:spPr>
          <a:xfrm>
            <a:off x="445639" y="1471048"/>
            <a:ext cx="4271268" cy="658714"/>
          </a:xfrm>
          <a:prstGeom prst="rect">
            <a:avLst/>
          </a:prstGeom>
          <a:solidFill>
            <a:srgbClr val="F9B3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dirty="0">
                <a:solidFill>
                  <a:srgbClr val="FFFFFF"/>
                </a:solidFill>
                <a:latin typeface="Times New Roman"/>
                <a:ea typeface="Aptos" panose="020B0004020202020204" pitchFamily="34" charset="0"/>
                <a:cs typeface="Times New Roman"/>
              </a:rPr>
              <a:t>Pénalité de temps : moins 5 minutes</a:t>
            </a:r>
            <a:endParaRPr lang="fr-FR" dirty="0">
              <a:solidFill>
                <a:srgbClr val="FFFFFF"/>
              </a:solidFill>
              <a:effectLst/>
              <a:latin typeface="Times New Roman"/>
              <a:ea typeface="Aptos" panose="020B0004020202020204" pitchFamily="34" charset="0"/>
              <a:cs typeface="Times New Roman"/>
            </a:endParaRPr>
          </a:p>
        </p:txBody>
      </p:sp>
    </p:spTree>
    <p:extLst>
      <p:ext uri="{BB962C8B-B14F-4D97-AF65-F5344CB8AC3E}">
        <p14:creationId xmlns:p14="http://schemas.microsoft.com/office/powerpoint/2010/main" val="280000201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Affichage à l'écran (16:9)</PresentationFormat>
  <Slides>22</Slides>
  <Notes>0</Notes>
  <HiddenSlides>0</HiddenSlides>
  <ScaleCrop>false</ScaleCrop>
  <HeadingPairs>
    <vt:vector size="4" baseType="variant">
      <vt:variant>
        <vt:lpstr>Thème</vt:lpstr>
      </vt:variant>
      <vt:variant>
        <vt:i4>1</vt:i4>
      </vt:variant>
      <vt:variant>
        <vt:lpstr>Titres des diapositives</vt:lpstr>
      </vt:variant>
      <vt:variant>
        <vt:i4>22</vt:i4>
      </vt:variant>
    </vt:vector>
  </HeadingPairs>
  <TitlesOfParts>
    <vt:vector size="23"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Armand QUINQUIS</dc:creator>
  <cp:revision>358</cp:revision>
  <dcterms:created xsi:type="dcterms:W3CDTF">2024-12-30T10:40:24Z</dcterms:created>
  <dcterms:modified xsi:type="dcterms:W3CDTF">2025-01-21T20:55:56Z</dcterms:modified>
</cp:coreProperties>
</file>